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61" r:id="rId6"/>
    <p:sldId id="258" r:id="rId7"/>
    <p:sldId id="265" r:id="rId8"/>
    <p:sldId id="259" r:id="rId9"/>
  </p:sldIdLst>
  <p:sldSz cx="12192000" cy="6858000"/>
  <p:notesSz cx="6858000" cy="12192000"/>
  <p:embeddedFontLst>
    <p:embeddedFont>
      <p:font typeface="Crimson Text Bold" panose="02020500000000000000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29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ikeee0910/Smart-Doorbell-and-RFID-Access-Control-Syste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3SzO02aXFCdFAMt_Jgk-UK2qNksE8ms/view?usp=drive_li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lask.palletsprojects.com/" TargetMode="External"/><Relationship Id="rId3" Type="http://schemas.openxmlformats.org/officeDocument/2006/relationships/hyperlink" Target="https://www.freertos.org/" TargetMode="External"/><Relationship Id="rId7" Type="http://schemas.openxmlformats.org/officeDocument/2006/relationships/hyperlink" Target="https://opencv.org/" TargetMode="External"/><Relationship Id="rId2" Type="http://schemas.openxmlformats.org/officeDocument/2006/relationships/hyperlink" Target="https://www.st.com/en/evaluation-tools/b-l475e-iot01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nxruntime.ai/" TargetMode="External"/><Relationship Id="rId5" Type="http://schemas.openxmlformats.org/officeDocument/2006/relationships/hyperlink" Target="https://pypi.org/project/fast-alpr/" TargetMode="External"/><Relationship Id="rId4" Type="http://schemas.openxmlformats.org/officeDocument/2006/relationships/hyperlink" Target="https://developers.line.biz/en/docs/messaging-api/" TargetMode="External"/><Relationship Id="rId9" Type="http://schemas.openxmlformats.org/officeDocument/2006/relationships/hyperlink" Target="https://ngrok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ikeee0910/Smart-Doorbell-and-RFID-Access-Control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2426" y="2493964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智慧停車場門禁系統</a:t>
            </a:r>
            <a:endParaRPr lang="zh-C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23794" y="3467271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期末報告</a:t>
            </a:r>
            <a:endParaRPr 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5463496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u="sng" dirty="0">
                <a:solidFill>
                  <a:srgbClr val="118ACD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https://github.com/mikeee0910/Smart-Doorbell-and-RFID-Access-Control-System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</a:rPr>
              <a:t>R13921015 潘思翰　　R13921071 孟繁宇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F71A7FE-A918-2A3C-ABE3-7802986782F3}"/>
              </a:ext>
            </a:extLst>
          </p:cNvPr>
          <p:cNvSpPr txBox="1"/>
          <p:nvPr/>
        </p:nvSpPr>
        <p:spPr>
          <a:xfrm>
            <a:off x="840259" y="1936217"/>
            <a:ext cx="1089866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現今許多停車場已有車牌辨識，但多數系統仍以單一辨識方式為主。 </a:t>
            </a: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同一位使用者可能會更換不同車輛，若只依賴車牌辨識，未登錄車牌可能無法通行。 </a:t>
            </a: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若只依賴 RFID 感應卡，當使用者忘記帶卡、卡片遺失，或訪客沒有 ID 卡時，通行會受到限制。 臨時訪客若沒有 RFID 或已登錄車牌，傳統系統較難即時處理。 </a:t>
            </a:r>
            <a:endParaRPr lang="en-US" altLang="zh-TW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F3F76C-2D1D-6643-7AF7-34283C67FC96}"/>
              </a:ext>
            </a:extLst>
          </p:cNvPr>
          <p:cNvSpPr txBox="1"/>
          <p:nvPr/>
        </p:nvSpPr>
        <p:spPr>
          <a:xfrm>
            <a:off x="5222789" y="421318"/>
            <a:ext cx="1746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dirty="0"/>
              <a:t>動機</a:t>
            </a:r>
          </a:p>
        </p:txBody>
      </p:sp>
    </p:spTree>
    <p:extLst>
      <p:ext uri="{BB962C8B-B14F-4D97-AF65-F5344CB8AC3E}">
        <p14:creationId xmlns:p14="http://schemas.microsoft.com/office/powerpoint/2010/main" val="77470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41EB-8E3A-8305-ECE8-F3553721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0B730A9-C504-7455-8F8E-EC76FBCD549F}"/>
              </a:ext>
            </a:extLst>
          </p:cNvPr>
          <p:cNvSpPr txBox="1"/>
          <p:nvPr/>
        </p:nvSpPr>
        <p:spPr>
          <a:xfrm>
            <a:off x="850231" y="1711032"/>
            <a:ext cx="10872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本專題整合 </a:t>
            </a:r>
            <a:r>
              <a:rPr lang="zh-TW" altLang="zh-TW" sz="2800" b="1" dirty="0"/>
              <a:t>RFID、車牌辨識、資料庫、馬達控制與 LINE Bot</a:t>
            </a:r>
            <a:r>
              <a:rPr lang="zh-TW" altLang="zh-TW" sz="2800" dirty="0"/>
              <a:t>，提升門禁系統的彈性。</a:t>
            </a: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系統設計為：</a:t>
            </a:r>
            <a:r>
              <a:rPr lang="zh-TW" altLang="zh-TW" sz="2800" b="1" dirty="0"/>
              <a:t>RFID 或車牌辨識任一成功，即允許開門</a:t>
            </a:r>
            <a:r>
              <a:rPr lang="zh-TW" altLang="zh-TW" sz="2800" dirty="0"/>
              <a:t>。</a:t>
            </a: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800" dirty="0"/>
              <a:t>透過資料庫紀錄通行歷史，並搭配 LINE Bot 提供即時通知與遠端管理能力。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3031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3">
            <a:extLst>
              <a:ext uri="{FF2B5EF4-FFF2-40B4-BE49-F238E27FC236}">
                <a16:creationId xmlns:a16="http://schemas.microsoft.com/office/drawing/2014/main" id="{53BC68CB-62B9-B3A7-B4AB-C09122359912}"/>
              </a:ext>
            </a:extLst>
          </p:cNvPr>
          <p:cNvSpPr/>
          <p:nvPr/>
        </p:nvSpPr>
        <p:spPr bwMode="auto">
          <a:xfrm>
            <a:off x="8494295" y="1396986"/>
            <a:ext cx="2374231" cy="4989095"/>
          </a:xfrm>
          <a:prstGeom prst="roundRect">
            <a:avLst>
              <a:gd name="adj" fmla="val 983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sz="1333"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40395439-825D-B159-08E7-F390C6B7E195}"/>
              </a:ext>
            </a:extLst>
          </p:cNvPr>
          <p:cNvSpPr/>
          <p:nvPr/>
        </p:nvSpPr>
        <p:spPr bwMode="auto">
          <a:xfrm>
            <a:off x="4018547" y="1396986"/>
            <a:ext cx="3652579" cy="4989095"/>
          </a:xfrm>
          <a:prstGeom prst="roundRect">
            <a:avLst>
              <a:gd name="adj" fmla="val 983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sz="1333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188D4D77-4B79-93FE-A9F6-94D256BFAA0F}"/>
              </a:ext>
            </a:extLst>
          </p:cNvPr>
          <p:cNvSpPr/>
          <p:nvPr/>
        </p:nvSpPr>
        <p:spPr bwMode="auto">
          <a:xfrm>
            <a:off x="617620" y="1396986"/>
            <a:ext cx="2965853" cy="4899540"/>
          </a:xfrm>
          <a:prstGeom prst="roundRect">
            <a:avLst>
              <a:gd name="adj" fmla="val 9836"/>
            </a:avLst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TW" altLang="en-US" sz="1333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56A19C-7DD6-59ED-641B-5FBBE96CAB1C}"/>
              </a:ext>
            </a:extLst>
          </p:cNvPr>
          <p:cNvSpPr/>
          <p:nvPr/>
        </p:nvSpPr>
        <p:spPr>
          <a:xfrm>
            <a:off x="1761034" y="1776117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RFID</a:t>
            </a:r>
          </a:p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Sensor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69FBCE-58D4-2B43-C237-5621CEA818AA}"/>
              </a:ext>
            </a:extLst>
          </p:cNvPr>
          <p:cNvSpPr/>
          <p:nvPr/>
        </p:nvSpPr>
        <p:spPr>
          <a:xfrm>
            <a:off x="4567744" y="5190636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Camera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4A0A8-155A-8853-4858-EF2D49963F72}"/>
              </a:ext>
            </a:extLst>
          </p:cNvPr>
          <p:cNvSpPr/>
          <p:nvPr/>
        </p:nvSpPr>
        <p:spPr>
          <a:xfrm>
            <a:off x="1761033" y="5190636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Button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9E9B3B-A276-F66E-2345-51D786583A04}"/>
              </a:ext>
            </a:extLst>
          </p:cNvPr>
          <p:cNvSpPr/>
          <p:nvPr/>
        </p:nvSpPr>
        <p:spPr>
          <a:xfrm>
            <a:off x="6065555" y="5190636"/>
            <a:ext cx="1359156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L</a:t>
            </a:r>
            <a:r>
              <a:rPr lang="zh-TW" altLang="zh-TW" sz="1400" dirty="0">
                <a:solidFill>
                  <a:schemeClr val="tx1"/>
                </a:solidFill>
              </a:rPr>
              <a:t>icense</a:t>
            </a:r>
            <a:r>
              <a:rPr lang="en-US" altLang="zh-TW" sz="1400" dirty="0">
                <a:solidFill>
                  <a:schemeClr val="tx1"/>
                </a:solidFill>
              </a:rPr>
              <a:t> </a:t>
            </a:r>
            <a:r>
              <a:rPr lang="zh-TW" altLang="zh-TW" sz="1400" dirty="0">
                <a:solidFill>
                  <a:schemeClr val="tx1"/>
                </a:solidFill>
              </a:rPr>
              <a:t>plate</a:t>
            </a:r>
            <a:br>
              <a:rPr lang="en-US" altLang="zh-TW" sz="1333" dirty="0">
                <a:solidFill>
                  <a:schemeClr val="tx1"/>
                </a:solidFill>
              </a:rPr>
            </a:br>
            <a:r>
              <a:rPr lang="en-US" altLang="zh-TW" sz="1333"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34C2F3-DDF9-5FAF-3602-8AC8E6556EB5}"/>
              </a:ext>
            </a:extLst>
          </p:cNvPr>
          <p:cNvSpPr/>
          <p:nvPr/>
        </p:nvSpPr>
        <p:spPr>
          <a:xfrm>
            <a:off x="5366225" y="1776117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ID</a:t>
            </a:r>
            <a:br>
              <a:rPr lang="en-US" altLang="zh-TW" sz="1333" dirty="0">
                <a:solidFill>
                  <a:sysClr val="windowText" lastClr="000000"/>
                </a:solidFill>
              </a:rPr>
            </a:br>
            <a:r>
              <a:rPr lang="en-US" altLang="zh-TW" sz="1333" dirty="0">
                <a:solidFill>
                  <a:sysClr val="windowText" lastClr="000000"/>
                </a:solidFill>
              </a:rPr>
              <a:t>Database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EECD6F-3731-B633-B435-DCC797BB7785}"/>
              </a:ext>
            </a:extLst>
          </p:cNvPr>
          <p:cNvSpPr/>
          <p:nvPr/>
        </p:nvSpPr>
        <p:spPr>
          <a:xfrm>
            <a:off x="1761033" y="3503727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Motor</a:t>
            </a:r>
          </a:p>
        </p:txBody>
      </p: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4FD4160F-9C03-0F25-D06A-6AD26D6E777C}"/>
              </a:ext>
            </a:extLst>
          </p:cNvPr>
          <p:cNvCxnSpPr>
            <a:cxnSpLocks/>
            <a:stCxn id="7" idx="0"/>
            <a:endCxn id="10" idx="3"/>
          </p:cNvCxnSpPr>
          <p:nvPr/>
        </p:nvCxnSpPr>
        <p:spPr>
          <a:xfrm rot="16200000" flipV="1">
            <a:off x="4025381" y="2470884"/>
            <a:ext cx="1417657" cy="4021848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CB02726-3F92-77E3-519F-A7B8A9DA139F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723285" y="5459888"/>
            <a:ext cx="1844459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FDC4863-B9DF-7E91-D8C7-7619F3857D2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529996" y="5459888"/>
            <a:ext cx="535559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D7AFCED-64FC-4147-8643-4AE04D22F6A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723286" y="2045369"/>
            <a:ext cx="2642939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B60B1E5D-E6BD-F7EE-E58C-57769A31CB5B}"/>
              </a:ext>
            </a:extLst>
          </p:cNvPr>
          <p:cNvCxnSpPr>
            <a:cxnSpLocks/>
            <a:stCxn id="8" idx="2"/>
            <a:endCxn id="10" idx="3"/>
          </p:cNvCxnSpPr>
          <p:nvPr/>
        </p:nvCxnSpPr>
        <p:spPr>
          <a:xfrm rot="5400000">
            <a:off x="3556139" y="1481767"/>
            <a:ext cx="1458358" cy="3124066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4459E28-7EA3-AD35-FDEA-3EF9F3473814}"/>
              </a:ext>
            </a:extLst>
          </p:cNvPr>
          <p:cNvSpPr/>
          <p:nvPr/>
        </p:nvSpPr>
        <p:spPr>
          <a:xfrm>
            <a:off x="9276345" y="5190636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Take Picture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0BBCA7-0933-564B-1364-752890D2A8C4}"/>
              </a:ext>
            </a:extLst>
          </p:cNvPr>
          <p:cNvSpPr/>
          <p:nvPr/>
        </p:nvSpPr>
        <p:spPr>
          <a:xfrm>
            <a:off x="9216189" y="1776117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Open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B7646F-FBC7-8BC5-EBB4-19D221180EB2}"/>
              </a:ext>
            </a:extLst>
          </p:cNvPr>
          <p:cNvSpPr/>
          <p:nvPr/>
        </p:nvSpPr>
        <p:spPr>
          <a:xfrm>
            <a:off x="9216188" y="3620217"/>
            <a:ext cx="962252" cy="5385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33" dirty="0">
                <a:solidFill>
                  <a:sysClr val="windowText" lastClr="000000"/>
                </a:solidFill>
              </a:rPr>
              <a:t>History</a:t>
            </a:r>
          </a:p>
        </p:txBody>
      </p: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B624B576-9B7C-C1E3-3087-53D32DA8A134}"/>
              </a:ext>
            </a:extLst>
          </p:cNvPr>
          <p:cNvCxnSpPr>
            <a:cxnSpLocks/>
            <a:stCxn id="32" idx="1"/>
            <a:endCxn id="10" idx="3"/>
          </p:cNvCxnSpPr>
          <p:nvPr/>
        </p:nvCxnSpPr>
        <p:spPr>
          <a:xfrm rot="10800000" flipV="1">
            <a:off x="2723285" y="2045369"/>
            <a:ext cx="6492904" cy="1727610"/>
          </a:xfrm>
          <a:prstGeom prst="bentConnector3">
            <a:avLst>
              <a:gd name="adj1" fmla="val 38388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接點: 肘形 88">
            <a:extLst>
              <a:ext uri="{FF2B5EF4-FFF2-40B4-BE49-F238E27FC236}">
                <a16:creationId xmlns:a16="http://schemas.microsoft.com/office/drawing/2014/main" id="{867AFCF8-99DC-5795-2DC8-975BF826ABB4}"/>
              </a:ext>
            </a:extLst>
          </p:cNvPr>
          <p:cNvCxnSpPr>
            <a:cxnSpLocks/>
            <a:stCxn id="31" idx="2"/>
            <a:endCxn id="5" idx="2"/>
          </p:cNvCxnSpPr>
          <p:nvPr/>
        </p:nvCxnSpPr>
        <p:spPr>
          <a:xfrm rot="5400000">
            <a:off x="7403171" y="3374840"/>
            <a:ext cx="12700" cy="4708601"/>
          </a:xfrm>
          <a:prstGeom prst="bentConnector3">
            <a:avLst>
              <a:gd name="adj1" fmla="val 344211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E41F289-431F-1F42-6818-812EE7F5A480}"/>
              </a:ext>
            </a:extLst>
          </p:cNvPr>
          <p:cNvSpPr txBox="1"/>
          <p:nvPr/>
        </p:nvSpPr>
        <p:spPr>
          <a:xfrm>
            <a:off x="7816363" y="4902715"/>
            <a:ext cx="830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A8FFC4A2-6920-F87C-5CB7-C19A418E0F03}"/>
              </a:ext>
            </a:extLst>
          </p:cNvPr>
          <p:cNvCxnSpPr>
            <a:cxnSpLocks/>
            <a:stCxn id="7" idx="3"/>
            <a:endCxn id="62" idx="1"/>
          </p:cNvCxnSpPr>
          <p:nvPr/>
        </p:nvCxnSpPr>
        <p:spPr>
          <a:xfrm flipV="1">
            <a:off x="7424711" y="3891534"/>
            <a:ext cx="1069584" cy="1568354"/>
          </a:xfrm>
          <a:prstGeom prst="bentConnector3">
            <a:avLst>
              <a:gd name="adj1" fmla="val 39501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2CFF9D27-04CF-492E-1140-9457BB6B0E2F}"/>
              </a:ext>
            </a:extLst>
          </p:cNvPr>
          <p:cNvSpPr txBox="1"/>
          <p:nvPr/>
        </p:nvSpPr>
        <p:spPr>
          <a:xfrm>
            <a:off x="5114969" y="2650943"/>
            <a:ext cx="830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D24CFD27-F5FE-4D87-E428-98717966475F}"/>
              </a:ext>
            </a:extLst>
          </p:cNvPr>
          <p:cNvSpPr txBox="1"/>
          <p:nvPr/>
        </p:nvSpPr>
        <p:spPr>
          <a:xfrm>
            <a:off x="7737224" y="2049728"/>
            <a:ext cx="830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llow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0">
            <a:extLst>
              <a:ext uri="{FF2B5EF4-FFF2-40B4-BE49-F238E27FC236}">
                <a16:creationId xmlns:a16="http://schemas.microsoft.com/office/drawing/2014/main" id="{A892082A-EBCA-56AC-9FA3-EC98426C0B53}"/>
              </a:ext>
            </a:extLst>
          </p:cNvPr>
          <p:cNvSpPr/>
          <p:nvPr/>
        </p:nvSpPr>
        <p:spPr>
          <a:xfrm>
            <a:off x="3428521" y="210562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zh-CN" sz="37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Overview</a:t>
            </a:r>
            <a:endParaRPr lang="zh-C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0">
            <a:extLst>
              <a:ext uri="{FF2B5EF4-FFF2-40B4-BE49-F238E27FC236}">
                <a16:creationId xmlns:a16="http://schemas.microsoft.com/office/drawing/2014/main" id="{4832930E-EB08-2DCC-C7F4-D752B81F0E1F}"/>
              </a:ext>
            </a:extLst>
          </p:cNvPr>
          <p:cNvSpPr/>
          <p:nvPr/>
        </p:nvSpPr>
        <p:spPr>
          <a:xfrm>
            <a:off x="559456" y="942697"/>
            <a:ext cx="313825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STM32</a:t>
            </a:r>
            <a:endParaRPr 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0">
            <a:extLst>
              <a:ext uri="{FF2B5EF4-FFF2-40B4-BE49-F238E27FC236}">
                <a16:creationId xmlns:a16="http://schemas.microsoft.com/office/drawing/2014/main" id="{BEBC0832-47E8-D43E-43EB-7A303A58A188}"/>
              </a:ext>
            </a:extLst>
          </p:cNvPr>
          <p:cNvSpPr/>
          <p:nvPr/>
        </p:nvSpPr>
        <p:spPr>
          <a:xfrm>
            <a:off x="4340544" y="942697"/>
            <a:ext cx="313825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RPI</a:t>
            </a:r>
            <a:endParaRPr 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0">
            <a:extLst>
              <a:ext uri="{FF2B5EF4-FFF2-40B4-BE49-F238E27FC236}">
                <a16:creationId xmlns:a16="http://schemas.microsoft.com/office/drawing/2014/main" id="{ECF6BA5F-0481-FA32-56D1-8234017870A9}"/>
              </a:ext>
            </a:extLst>
          </p:cNvPr>
          <p:cNvSpPr/>
          <p:nvPr/>
        </p:nvSpPr>
        <p:spPr>
          <a:xfrm>
            <a:off x="8128189" y="942697"/>
            <a:ext cx="313825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LINE BOT</a:t>
            </a:r>
            <a:endParaRPr 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EA2F3ACF-0F8B-11B8-40C4-A37D1E006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49" b="30407"/>
          <a:stretch>
            <a:fillRect/>
          </a:stretch>
        </p:blipFill>
        <p:spPr>
          <a:xfrm>
            <a:off x="14642" y="126752"/>
            <a:ext cx="12162717" cy="660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6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8521" y="313367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  <a:hlinkClick r:id="rId3"/>
              </a:rPr>
              <a:t>DEMO</a:t>
            </a:r>
            <a:endParaRPr lang="en-US" sz="3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A852C-AC77-C55B-3AEC-B2B7AAE8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BDDE901-FACA-233F-B23A-89AEC554BB8F}"/>
              </a:ext>
            </a:extLst>
          </p:cNvPr>
          <p:cNvSpPr txBox="1"/>
          <p:nvPr/>
        </p:nvSpPr>
        <p:spPr>
          <a:xfrm>
            <a:off x="2252940" y="2591609"/>
            <a:ext cx="7686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STMicroelectronics — </a:t>
            </a:r>
            <a:r>
              <a:rPr lang="zh-TW" altLang="zh-TW" i="1" dirty="0"/>
              <a:t>B-L475E-IOT01A Discovery kit (STM32L475)</a:t>
            </a:r>
            <a:r>
              <a:rPr lang="zh-TW" altLang="zh-TW" dirty="0"/>
              <a:t>.</a:t>
            </a:r>
            <a:endParaRPr lang="en-US" altLang="zh-TW" dirty="0"/>
          </a:p>
          <a:p>
            <a:r>
              <a:rPr lang="zh-TW" altLang="zh-TW" dirty="0"/>
              <a:t> </a:t>
            </a:r>
            <a:r>
              <a:rPr lang="zh-TW" altLang="zh-TW" u="sng" dirty="0">
                <a:hlinkClick r:id="rId2"/>
              </a:rPr>
              <a:t>https://www.st.com/en/evaluation-tools/b-l475e-iot01a.html</a:t>
            </a:r>
            <a:endParaRPr lang="zh-TW" altLang="zh-TW" dirty="0"/>
          </a:p>
          <a:p>
            <a:r>
              <a:rPr lang="zh-TW" altLang="zh-TW" dirty="0"/>
              <a:t>FreeRTOS / CMSIS-RTOS v2. </a:t>
            </a:r>
            <a:r>
              <a:rPr lang="zh-TW" altLang="zh-TW" u="sng" dirty="0">
                <a:hlinkClick r:id="rId3"/>
              </a:rPr>
              <a:t>https://www.freertos.org/</a:t>
            </a:r>
            <a:endParaRPr lang="en-US" altLang="zh-TW" dirty="0"/>
          </a:p>
          <a:p>
            <a:r>
              <a:rPr lang="zh-TW" altLang="zh-TW" dirty="0"/>
              <a:t>LINE — </a:t>
            </a:r>
            <a:r>
              <a:rPr lang="zh-TW" altLang="zh-TW" i="1" dirty="0"/>
              <a:t>Messaging API</a:t>
            </a:r>
            <a:r>
              <a:rPr lang="zh-TW" altLang="zh-TW" dirty="0"/>
              <a:t>. </a:t>
            </a:r>
            <a:r>
              <a:rPr lang="zh-TW" altLang="zh-TW" u="sng" dirty="0">
                <a:hlinkClick r:id="rId4"/>
              </a:rPr>
              <a:t>https://developers.line.biz/en/docs/messaging-api/</a:t>
            </a:r>
            <a:endParaRPr lang="zh-TW" altLang="zh-TW" dirty="0"/>
          </a:p>
          <a:p>
            <a:r>
              <a:rPr lang="zh-TW" altLang="zh-TW" dirty="0"/>
              <a:t>fast-alpr — </a:t>
            </a:r>
            <a:r>
              <a:rPr lang="zh-TW" altLang="zh-TW" i="1" dirty="0"/>
              <a:t>ONNX 車牌偵測 + OCR 套件</a:t>
            </a:r>
            <a:r>
              <a:rPr lang="zh-TW" altLang="zh-TW" dirty="0"/>
              <a:t>. </a:t>
            </a:r>
            <a:r>
              <a:rPr lang="zh-TW" altLang="zh-TW" u="sng" dirty="0">
                <a:hlinkClick r:id="rId5"/>
              </a:rPr>
              <a:t>https://pypi.org/project/fast-alpr/</a:t>
            </a:r>
            <a:endParaRPr lang="zh-TW" altLang="zh-TW" dirty="0"/>
          </a:p>
          <a:p>
            <a:r>
              <a:rPr lang="zh-TW" altLang="zh-TW" dirty="0"/>
              <a:t>ONNX Runtime. </a:t>
            </a:r>
            <a:r>
              <a:rPr lang="zh-TW" altLang="zh-TW" u="sng" dirty="0">
                <a:hlinkClick r:id="rId6"/>
              </a:rPr>
              <a:t>https://onnxruntime.ai/</a:t>
            </a:r>
            <a:endParaRPr lang="zh-TW" altLang="zh-TW" dirty="0"/>
          </a:p>
          <a:p>
            <a:r>
              <a:rPr lang="zh-TW" altLang="zh-TW" dirty="0"/>
              <a:t>OpenCV. </a:t>
            </a:r>
            <a:r>
              <a:rPr lang="zh-TW" altLang="zh-TW" u="sng" dirty="0">
                <a:hlinkClick r:id="rId7"/>
              </a:rPr>
              <a:t>https://opencv.org/</a:t>
            </a:r>
            <a:endParaRPr lang="zh-TW" altLang="zh-TW" dirty="0"/>
          </a:p>
          <a:p>
            <a:r>
              <a:rPr lang="zh-TW" altLang="zh-TW" dirty="0"/>
              <a:t>Flask. </a:t>
            </a:r>
            <a:r>
              <a:rPr lang="zh-TW" altLang="zh-TW" u="sng" dirty="0">
                <a:hlinkClick r:id="rId8"/>
              </a:rPr>
              <a:t>https://flask.palletsprojects.com/</a:t>
            </a:r>
            <a:endParaRPr lang="zh-TW" altLang="zh-TW" dirty="0"/>
          </a:p>
          <a:p>
            <a:r>
              <a:rPr lang="zh-TW" altLang="zh-TW" dirty="0"/>
              <a:t>ngrok. </a:t>
            </a:r>
            <a:r>
              <a:rPr lang="zh-TW" altLang="zh-TW" u="sng" dirty="0">
                <a:hlinkClick r:id="rId9"/>
              </a:rPr>
              <a:t>https://ngrok.com/</a:t>
            </a:r>
            <a:endParaRPr lang="zh-TW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0FF70A8-A37C-EF16-36A0-1DB4DB2C2618}"/>
              </a:ext>
            </a:extLst>
          </p:cNvPr>
          <p:cNvSpPr txBox="1"/>
          <p:nvPr/>
        </p:nvSpPr>
        <p:spPr>
          <a:xfrm>
            <a:off x="3810542" y="421318"/>
            <a:ext cx="4570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dirty="0"/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34256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15C28D0-49D7-41FE-77C8-12D98BEE8F64}"/>
              </a:ext>
            </a:extLst>
          </p:cNvPr>
          <p:cNvSpPr/>
          <p:nvPr/>
        </p:nvSpPr>
        <p:spPr>
          <a:xfrm>
            <a:off x="1246699" y="4747880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智慧停車場門禁系統</a:t>
            </a:r>
            <a:endParaRPr 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71F6EBA-F1CF-AB11-A207-8AAC905A6496}"/>
              </a:ext>
            </a:extLst>
          </p:cNvPr>
          <p:cNvSpPr/>
          <p:nvPr/>
        </p:nvSpPr>
        <p:spPr>
          <a:xfrm>
            <a:off x="2323794" y="261703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謝謝聆聽</a:t>
            </a:r>
            <a:endParaRPr lang="zh-CN" altLang="zh-TW" sz="4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76606FF-E2F0-FBE5-8EA3-A3EA71621308}"/>
              </a:ext>
            </a:extLst>
          </p:cNvPr>
          <p:cNvSpPr/>
          <p:nvPr/>
        </p:nvSpPr>
        <p:spPr>
          <a:xfrm>
            <a:off x="661475" y="5463496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u="sng" dirty="0">
                <a:solidFill>
                  <a:srgbClr val="118ACD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https://github.com/mikeee0910/Smart-Doorbell-and-RFID-Access-Control-System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</a:rPr>
              <a:t>R13921015 潘思翰　　R13921071 孟繁宇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8AC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482</Words>
  <Application>Microsoft Office PowerPoint</Application>
  <PresentationFormat>寬螢幕</PresentationFormat>
  <Paragraphs>55</Paragraphs>
  <Slides>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Crimson Text Bold</vt:lpstr>
      <vt:lpstr>Times New Roman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MENG</dc:creator>
  <cp:lastModifiedBy>孟繁宇</cp:lastModifiedBy>
  <cp:revision>6</cp:revision>
  <dcterms:created xsi:type="dcterms:W3CDTF">2026-06-10T23:34:52Z</dcterms:created>
  <dcterms:modified xsi:type="dcterms:W3CDTF">2026-06-11T01:22:36Z</dcterms:modified>
</cp:coreProperties>
</file>